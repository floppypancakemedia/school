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304" r:id="rId3"/>
    <p:sldId id="292" r:id="rId4"/>
    <p:sldId id="293" r:id="rId5"/>
    <p:sldId id="265" r:id="rId6"/>
    <p:sldId id="263" r:id="rId7"/>
    <p:sldId id="295" r:id="rId8"/>
    <p:sldId id="301" r:id="rId9"/>
    <p:sldId id="289" r:id="rId10"/>
    <p:sldId id="305" r:id="rId11"/>
    <p:sldId id="290" r:id="rId12"/>
    <p:sldId id="259" r:id="rId13"/>
    <p:sldId id="267" r:id="rId14"/>
    <p:sldId id="296" r:id="rId15"/>
    <p:sldId id="288" r:id="rId16"/>
    <p:sldId id="298" r:id="rId17"/>
    <p:sldId id="30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6046" autoAdjust="0"/>
  </p:normalViewPr>
  <p:slideViewPr>
    <p:cSldViewPr snapToGrid="0">
      <p:cViewPr varScale="1">
        <p:scale>
          <a:sx n="101" d="100"/>
          <a:sy n="101" d="100"/>
        </p:scale>
        <p:origin x="9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A127C-4746-426F-A89D-C9F701623EF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5847F-E8AD-4043-AD5B-5B57EFE58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9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iSCSI (Internet Small Computer System Interface) By</a:t>
            </a:r>
          </a:p>
          <a:p>
            <a:r>
              <a:rPr lang="en-US" dirty="0"/>
              <a:t>It is a protocol that enables the connection of storage devices over a network using TCP/IP.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5847F-E8AD-4043-AD5B-5B57EFE588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58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we share a folder in windows server we use 2 different types of permissions</a:t>
            </a:r>
          </a:p>
          <a:p>
            <a:r>
              <a:rPr lang="en-US" dirty="0"/>
              <a:t>NTFS and Share Permissions</a:t>
            </a:r>
          </a:p>
          <a:p>
            <a:r>
              <a:rPr lang="en-US" dirty="0"/>
              <a:t>Applied to files &amp; folders </a:t>
            </a:r>
          </a:p>
          <a:p>
            <a:r>
              <a:rPr lang="en-US" dirty="0"/>
              <a:t>Advanced</a:t>
            </a:r>
          </a:p>
          <a:p>
            <a:endParaRPr lang="en-US" dirty="0"/>
          </a:p>
          <a:p>
            <a:r>
              <a:rPr lang="en-US" dirty="0"/>
              <a:t>Share Permissions</a:t>
            </a:r>
          </a:p>
          <a:p>
            <a:r>
              <a:rPr lang="en-US" dirty="0"/>
              <a:t>Applied to shared folders</a:t>
            </a:r>
          </a:p>
          <a:p>
            <a:r>
              <a:rPr lang="en-US" dirty="0"/>
              <a:t>basic</a:t>
            </a:r>
          </a:p>
          <a:p>
            <a:r>
              <a:rPr lang="en-US" dirty="0"/>
              <a:t>User connects to Share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5847F-E8AD-4043-AD5B-5B57EFE588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30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06202-19A0-DA60-6205-A300065F48F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45C717E-5C79-4748-9DED-FD76221F50E2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BC873-93AC-9B2B-DEA2-DE596A404E5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13457-B883-019C-1AA2-5399857580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718864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46B36-1531-EFEE-6188-648BB144D6B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7A7B28A-3022-426F-960A-1FBE316E0B5C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918EE-DE1D-8AC9-2857-CB2C7AC7B9D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E3A65-4083-614A-D337-CBAEB54B50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>
              <a:cs typeface="Tahoma" pitchFamily="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84DB6-F58D-43FF-B253-0C7A8E3195D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D2D75CB-3168-429E-A8B1-F78DA05355DD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46E99-DD70-4A86-86E4-AB5DA03FE30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D834B-DB18-48D6-A414-089C7DEA3C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525920"/>
          </a:xfrm>
        </p:spPr>
        <p:txBody>
          <a:bodyPr>
            <a:spAutoFit/>
          </a:bodyPr>
          <a:lstStyle/>
          <a:p>
            <a:endParaRPr lang="en-US">
              <a:cs typeface="Tahoma" pitchFamily="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B6FB4-E11E-4C2E-9D00-3915CD84147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4E98F3E4-74A9-41F3-A835-CB2303E2B5A9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34E8F-7BD7-40ED-941E-2D91AE5F90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2B942-B2DE-4A6E-AFF1-1DBBA56F39A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525920"/>
          </a:xfrm>
        </p:spPr>
        <p:txBody>
          <a:bodyPr>
            <a:spAutoFit/>
          </a:bodyPr>
          <a:lstStyle/>
          <a:p>
            <a:r>
              <a:rPr lang="en-US" b="0" dirty="0"/>
              <a:t>TCP is a connection-oriented protocol, whereas UDP is a connectionless protocol. A key difference between TCP and UDP is speed, as TCP is comparatively slower than UDP. Overall, UDP is a much faster, simpler, and efficient protocol, however, retransmission of lost data packets is only possible with TCP.</a:t>
            </a:r>
            <a:endParaRPr lang="en-US" b="0" dirty="0"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066096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https://ferhatakgun.com/network-share-performance-differences-between-nfs-smb/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246D31DB-880B-4875-8D1A-A10BAFE7F45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2DE8E6A-3721-4F6E-B05F-C1B1980A03F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26BCF5-54ED-4333-AA0E-4EC710067DD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32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6477" y="501162"/>
            <a:ext cx="10228375" cy="2842567"/>
          </a:xfrm>
        </p:spPr>
        <p:txBody>
          <a:bodyPr bIns="0" anchor="b">
            <a:normAutofit/>
          </a:bodyPr>
          <a:lstStyle>
            <a:lvl1pPr algn="ctr">
              <a:defRPr sz="6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6477" y="3531204"/>
            <a:ext cx="10228375" cy="2148625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3600" b="0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 flipV="1">
            <a:off x="826477" y="3528542"/>
            <a:ext cx="10228375" cy="2662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88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65692"/>
          </a:xfrm>
        </p:spPr>
        <p:txBody>
          <a:bodyPr anchor="t"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2DE8E6A-3721-4F6E-B05F-C1B1980A03F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26BCF5-54ED-4333-AA0E-4EC710067DDB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08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3748" y="78260"/>
            <a:ext cx="11504504" cy="783385"/>
          </a:xfrm>
        </p:spPr>
        <p:txBody>
          <a:bodyPr>
            <a:no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748" y="861645"/>
            <a:ext cx="11504504" cy="5249009"/>
          </a:xfrm>
        </p:spPr>
        <p:txBody>
          <a:bodyPr anchor="t"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/>
          <p:cNvCxnSpPr>
            <a:cxnSpLocks/>
          </p:cNvCxnSpPr>
          <p:nvPr/>
        </p:nvCxnSpPr>
        <p:spPr>
          <a:xfrm flipV="1">
            <a:off x="343748" y="861645"/>
            <a:ext cx="11504504" cy="17586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6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798973"/>
            <a:ext cx="8643154" cy="2845107"/>
          </a:xfrm>
        </p:spPr>
        <p:txBody>
          <a:bodyPr anchor="b">
            <a:normAutofit/>
          </a:bodyPr>
          <a:lstStyle>
            <a:lvl1pPr algn="l"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49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1857415"/>
            <a:ext cx="4645152" cy="4316849"/>
          </a:xfrm>
        </p:spPr>
        <p:txBody>
          <a:bodyPr>
            <a:normAutofit/>
          </a:bodyPr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1864194"/>
            <a:ext cx="4645152" cy="4307993"/>
          </a:xfrm>
        </p:spPr>
        <p:txBody>
          <a:bodyPr>
            <a:normAutofit/>
          </a:bodyPr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16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0371" y="66336"/>
            <a:ext cx="11959052" cy="751350"/>
          </a:xfrm>
        </p:spPr>
        <p:txBody>
          <a:bodyPr>
            <a:no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371" y="854263"/>
            <a:ext cx="5962112" cy="5320001"/>
          </a:xfrm>
        </p:spPr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9897" y="854263"/>
            <a:ext cx="5979526" cy="5320000"/>
          </a:xfrm>
        </p:spPr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5" name="Straight Connector 34"/>
          <p:cNvCxnSpPr>
            <a:cxnSpLocks/>
          </p:cNvCxnSpPr>
          <p:nvPr/>
        </p:nvCxnSpPr>
        <p:spPr>
          <a:xfrm flipV="1">
            <a:off x="130371" y="817686"/>
            <a:ext cx="11959052" cy="18288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41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3514" y="100779"/>
            <a:ext cx="11741271" cy="716906"/>
          </a:xfrm>
        </p:spPr>
        <p:txBody>
          <a:bodyPr>
            <a:no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305" y="893955"/>
            <a:ext cx="5879464" cy="80194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200" b="0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304" y="1698675"/>
            <a:ext cx="5879463" cy="4420771"/>
          </a:xfrm>
        </p:spPr>
        <p:txBody>
          <a:bodyPr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0" y="909435"/>
            <a:ext cx="5879464" cy="80223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200" b="0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9" y="1707923"/>
            <a:ext cx="5879463" cy="4408926"/>
          </a:xfrm>
        </p:spPr>
        <p:txBody>
          <a:bodyPr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9" name="Straight Connector 28"/>
          <p:cNvCxnSpPr>
            <a:cxnSpLocks/>
          </p:cNvCxnSpPr>
          <p:nvPr/>
        </p:nvCxnSpPr>
        <p:spPr>
          <a:xfrm>
            <a:off x="160852" y="835973"/>
            <a:ext cx="1173445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35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8E6A-3721-4F6E-B05F-C1B1980A03F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BCF5-54ED-4333-AA0E-4EC710067DDB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85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8E6A-3721-4F6E-B05F-C1B1980A03F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BCF5-54ED-4333-AA0E-4EC710067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96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8E6A-3721-4F6E-B05F-C1B1980A03F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BCF5-54ED-4333-AA0E-4EC710067DDB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059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2DE8E6A-3721-4F6E-B05F-C1B1980A03F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BCF5-54ED-4333-AA0E-4EC710067DD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002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8E6A-3721-4F6E-B05F-C1B1980A03F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BCF5-54ED-4333-AA0E-4EC710067DDB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432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8E6A-3721-4F6E-B05F-C1B1980A03F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BCF5-54ED-4333-AA0E-4EC710067DD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62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2DE8E6A-3721-4F6E-B05F-C1B1980A03F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26BCF5-54ED-4333-AA0E-4EC710067DD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72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svgsilh.com/image/1970469.html" TargetMode="External"/><Relationship Id="rId3" Type="http://schemas.openxmlformats.org/officeDocument/2006/relationships/hyperlink" Target="http://openclipart.org/detail/192936/server-remix-1-by-merlin2525-192936" TargetMode="External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hyperlink" Target="https://androidpc.es/blog/2018/05/17/hp-t430-thin-client-un-mini-pc-con-intel-gemini-lake-que-necesita-un-solo-cable/" TargetMode="Externa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A675315-A3B9-0B66-7BAA-68B460A057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File and Share Access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853727-2E29-3261-DB90-ECD254251B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CS240W</a:t>
            </a:r>
          </a:p>
        </p:txBody>
      </p:sp>
    </p:spTree>
    <p:extLst>
      <p:ext uri="{BB962C8B-B14F-4D97-AF65-F5344CB8AC3E}">
        <p14:creationId xmlns:p14="http://schemas.microsoft.com/office/powerpoint/2010/main" val="42294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F6C4526-BF2B-8808-6A2C-98CA1987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and Storage Services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43169DA-5A45-ED0F-50EE-6C82780584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File and Storage Services</a:t>
            </a:r>
            <a:r>
              <a:rPr lang="en-US" dirty="0"/>
              <a:t> is a </a:t>
            </a:r>
            <a:r>
              <a:rPr lang="en-US" b="1" dirty="0"/>
              <a:t>core role</a:t>
            </a:r>
            <a:r>
              <a:rPr lang="en-US" dirty="0"/>
              <a:t> in Windows Server that allows organizations to manage file sharing, data storage, and access control efficiently. This service is critical for </a:t>
            </a:r>
            <a:r>
              <a:rPr lang="en-US" b="1" dirty="0"/>
              <a:t>centralized data management</a:t>
            </a:r>
            <a:r>
              <a:rPr lang="en-US" dirty="0"/>
              <a:t>, ensuring </a:t>
            </a:r>
            <a:r>
              <a:rPr lang="en-US" b="1" dirty="0"/>
              <a:t>secure and high-performance file sharing</a:t>
            </a:r>
            <a:r>
              <a:rPr lang="en-US" dirty="0"/>
              <a:t> across networked users and applications.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81CD542-A600-7993-8381-14B4610B24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10288" y="1619391"/>
            <a:ext cx="5978525" cy="3789080"/>
          </a:xfrm>
        </p:spPr>
      </p:pic>
    </p:spTree>
    <p:extLst>
      <p:ext uri="{BB962C8B-B14F-4D97-AF65-F5344CB8AC3E}">
        <p14:creationId xmlns:p14="http://schemas.microsoft.com/office/powerpoint/2010/main" val="211380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9A12-6616-48A0-B466-8ADBB028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NTFS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A0637-68F4-1587-F571-F3DFC0A22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Read</a:t>
            </a:r>
            <a:r>
              <a:rPr lang="en-US" dirty="0"/>
              <a:t>: Users can view/read files and file properties.</a:t>
            </a:r>
          </a:p>
          <a:p>
            <a:r>
              <a:rPr lang="en-US" b="1" dirty="0"/>
              <a:t>Write</a:t>
            </a:r>
            <a:r>
              <a:rPr lang="en-US" dirty="0"/>
              <a:t>: Users can write to a file.</a:t>
            </a:r>
          </a:p>
          <a:p>
            <a:r>
              <a:rPr lang="en-US" b="1" dirty="0"/>
              <a:t>List Folder Contents</a:t>
            </a:r>
            <a:r>
              <a:rPr lang="en-US" dirty="0"/>
              <a:t>: See lists of file and file properties.</a:t>
            </a:r>
          </a:p>
          <a:p>
            <a:r>
              <a:rPr lang="en-US" b="1" dirty="0"/>
              <a:t>Read &amp; Execute</a:t>
            </a:r>
            <a:r>
              <a:rPr lang="en-US" dirty="0"/>
              <a:t>: Users can run executable files, including scripts.</a:t>
            </a:r>
          </a:p>
          <a:p>
            <a:r>
              <a:rPr lang="en-US" b="1" dirty="0"/>
              <a:t>Modify</a:t>
            </a:r>
            <a:r>
              <a:rPr lang="en-US" dirty="0"/>
              <a:t>: Users can view and modify files and file properties, including deleting and adding files to a directory or file properties to a file.</a:t>
            </a:r>
          </a:p>
          <a:p>
            <a:r>
              <a:rPr lang="en-US" b="1" dirty="0"/>
              <a:t>Full Control</a:t>
            </a:r>
            <a:r>
              <a:rPr lang="en-US" dirty="0"/>
              <a:t>: Users can modify, add, move, and delete files, as well as their associated properties and directories. Users can change permissions for all files and subdirectories.</a:t>
            </a:r>
          </a:p>
        </p:txBody>
      </p:sp>
    </p:spTree>
    <p:extLst>
      <p:ext uri="{BB962C8B-B14F-4D97-AF65-F5344CB8AC3E}">
        <p14:creationId xmlns:p14="http://schemas.microsoft.com/office/powerpoint/2010/main" val="231701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6E41-F178-E491-5774-71F96E223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NTFS vs Share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33ADF3E-5E8C-2F51-A76F-1913E3A99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71020" y="990252"/>
            <a:ext cx="8849960" cy="4991797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90F72A4-54B7-C0E2-A8EB-941D8C29DD49}"/>
              </a:ext>
            </a:extLst>
          </p:cNvPr>
          <p:cNvSpPr txBox="1"/>
          <p:nvPr/>
        </p:nvSpPr>
        <p:spPr>
          <a:xfrm>
            <a:off x="993775" y="630503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https://www.dnsstuff.com/ntfs-vs-share-permissions</a:t>
            </a:r>
          </a:p>
        </p:txBody>
      </p:sp>
    </p:spTree>
    <p:extLst>
      <p:ext uri="{BB962C8B-B14F-4D97-AF65-F5344CB8AC3E}">
        <p14:creationId xmlns:p14="http://schemas.microsoft.com/office/powerpoint/2010/main" val="29029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3EFAE-2780-1064-F8A1-CFC4EF8055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748" y="78260"/>
            <a:ext cx="11504504" cy="590931"/>
          </a:xfrm>
        </p:spPr>
        <p:txBody>
          <a:bodyPr>
            <a:spAutoFit/>
          </a:bodyPr>
          <a:lstStyle/>
          <a:p>
            <a:pPr lvl="0"/>
            <a:r>
              <a:rPr lang="en-US"/>
              <a:t>Effective Permissions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57511-3F74-2D97-262E-A5A7AC0A54F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 anchor="ctr"/>
          <a:lstStyle/>
          <a:p>
            <a:pPr indent="-195955" algn="ctr"/>
            <a:r>
              <a:rPr lang="en-US" dirty="0"/>
              <a:t>When calculating effective permissions, the computer takes into consideration all groups the user is a member of.  The most permissive group/user permission is applied as the effective permission.</a:t>
            </a:r>
          </a:p>
          <a:p>
            <a:pPr indent="-195955" algn="ctr"/>
            <a:endParaRPr lang="en-US" dirty="0"/>
          </a:p>
          <a:p>
            <a:pPr indent="-195955" algn="ctr"/>
            <a:r>
              <a:rPr lang="en-US" dirty="0"/>
              <a:t>You cannot take away permissions by adding a user to a group with no permissions.</a:t>
            </a:r>
          </a:p>
        </p:txBody>
      </p:sp>
    </p:spTree>
    <p:extLst>
      <p:ext uri="{BB962C8B-B14F-4D97-AF65-F5344CB8AC3E}">
        <p14:creationId xmlns:p14="http://schemas.microsoft.com/office/powerpoint/2010/main" val="3959096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46857-D3DD-F3D2-50AF-DE5FB0E9BBB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Shares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5833A-CBF6-97F3-0B02-85823B6C7E9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/>
              <a:t>Simple File Sharing</a:t>
            </a:r>
          </a:p>
          <a:p>
            <a:pPr marL="0" lvl="1" indent="0" hangingPunct="0">
              <a:spcBef>
                <a:spcPts val="0"/>
              </a:spcBef>
              <a:spcAft>
                <a:spcPts val="1283"/>
              </a:spcAft>
              <a:buSzPct val="75000"/>
              <a:buFont typeface="StarSymbol"/>
              <a:buChar char="–"/>
            </a:pPr>
            <a:r>
              <a:rPr lang="en-US">
                <a:latin typeface="Arial" pitchFamily="18"/>
                <a:cs typeface="Tahoma" pitchFamily="2"/>
              </a:rPr>
              <a:t>Folder names are used as share names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/>
              <a:t>Advanced File Sharing</a:t>
            </a:r>
          </a:p>
          <a:p>
            <a:pPr marL="0" lvl="1" indent="0" hangingPunct="0">
              <a:spcBef>
                <a:spcPts val="0"/>
              </a:spcBef>
              <a:spcAft>
                <a:spcPts val="1283"/>
              </a:spcAft>
              <a:buSzPct val="75000"/>
              <a:buFont typeface="StarSymbol"/>
              <a:buChar char="–"/>
            </a:pPr>
            <a:r>
              <a:rPr lang="en-US">
                <a:latin typeface="Arial" pitchFamily="18"/>
                <a:cs typeface="Tahoma" pitchFamily="2"/>
              </a:rPr>
              <a:t>Allows custom names</a:t>
            </a:r>
          </a:p>
          <a:p>
            <a:pPr marL="0" lvl="1" indent="0" hangingPunct="0">
              <a:spcBef>
                <a:spcPts val="0"/>
              </a:spcBef>
              <a:spcAft>
                <a:spcPts val="1283"/>
              </a:spcAft>
              <a:buSzPct val="75000"/>
              <a:buFont typeface="StarSymbol"/>
              <a:buChar char="–"/>
            </a:pPr>
            <a:r>
              <a:rPr lang="en-US">
                <a:latin typeface="Arial" pitchFamily="18"/>
                <a:cs typeface="Tahoma" pitchFamily="2"/>
              </a:rPr>
              <a:t>Add $ to end to hide share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/>
              <a:t>Universal Naming Convention (UNC): \\SERVER\SHARE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/>
              <a:t>Permissions: Read, Change, and Full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55DA9-CD3D-CDDC-B8B0-7514D42C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files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EBABB-9BE1-A769-DA0A-90FF4588B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SMB (</a:t>
            </a:r>
            <a:r>
              <a:rPr lang="en-US" sz="3600" dirty="0"/>
              <a:t>Server Message Block) Protocol</a:t>
            </a:r>
          </a:p>
          <a:p>
            <a:pPr lvl="1"/>
            <a:r>
              <a:rPr lang="en-US" dirty="0"/>
              <a:t>Windows</a:t>
            </a:r>
          </a:p>
          <a:p>
            <a:pPr lvl="2"/>
            <a:r>
              <a:rPr lang="en-US" dirty="0"/>
              <a:t>CIFS (Common Internet Fiel System)</a:t>
            </a:r>
          </a:p>
          <a:p>
            <a:pPr lvl="3"/>
            <a:r>
              <a:rPr lang="en-US" dirty="0"/>
              <a:t>A version of SMB that is considered out of date. </a:t>
            </a:r>
          </a:p>
          <a:p>
            <a:r>
              <a:rPr lang="en-US" dirty="0"/>
              <a:t>NFS (</a:t>
            </a:r>
            <a:r>
              <a:rPr lang="en-US" altLang="en-US" sz="3600" dirty="0"/>
              <a:t>Network File System) Protocol</a:t>
            </a:r>
          </a:p>
          <a:p>
            <a:pPr lvl="1"/>
            <a:r>
              <a:rPr lang="en-US" dirty="0"/>
              <a:t>Used in Linux/Unix</a:t>
            </a:r>
          </a:p>
          <a:p>
            <a:r>
              <a:rPr lang="en-US" dirty="0"/>
              <a:t>Note: Both can be setup to work in both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23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B987-F7BA-4284-BBBF-0F0CBC4B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VirtualBox </a:t>
            </a:r>
          </a:p>
        </p:txBody>
      </p:sp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7FA5D11C-2D1A-464B-8E8E-5ACF67DAD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44503" y="2246626"/>
            <a:ext cx="1885106" cy="2524695"/>
          </a:xfrm>
          <a:prstGeom prst="rect">
            <a:avLst/>
          </a:prstGeom>
        </p:spPr>
      </p:pic>
      <p:pic>
        <p:nvPicPr>
          <p:cNvPr id="9" name="Picture 8" descr="A computer on a desk&#10;&#10;Description automatically generated with medium confidence">
            <a:extLst>
              <a:ext uri="{FF2B5EF4-FFF2-40B4-BE49-F238E27FC236}">
                <a16:creationId xmlns:a16="http://schemas.microsoft.com/office/drawing/2014/main" id="{AF50ECD7-1762-4333-A9C9-E18081F23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638142" y="2253845"/>
            <a:ext cx="3298761" cy="1847997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ACA5679-5FDB-4A60-B12B-159206123737}"/>
              </a:ext>
            </a:extLst>
          </p:cNvPr>
          <p:cNvCxnSpPr>
            <a:cxnSpLocks/>
            <a:stCxn id="8" idx="0"/>
            <a:endCxn id="9" idx="0"/>
          </p:cNvCxnSpPr>
          <p:nvPr/>
        </p:nvCxnSpPr>
        <p:spPr>
          <a:xfrm rot="16200000" flipH="1">
            <a:off x="5783679" y="750002"/>
            <a:ext cx="7219" cy="3000467"/>
          </a:xfrm>
          <a:prstGeom prst="bentConnector3">
            <a:avLst>
              <a:gd name="adj1" fmla="val -3166644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CA06EAC-56DA-4DD1-9D71-6BB3818827A0}"/>
              </a:ext>
            </a:extLst>
          </p:cNvPr>
          <p:cNvSpPr txBox="1"/>
          <p:nvPr/>
        </p:nvSpPr>
        <p:spPr>
          <a:xfrm>
            <a:off x="3853282" y="4771321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DA643A-526C-178D-6BB5-1E6CB0CFB9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820106" y="1270534"/>
            <a:ext cx="6551787" cy="52698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993C58-913B-D92F-69C0-20FB18D371B4}"/>
              </a:ext>
            </a:extLst>
          </p:cNvPr>
          <p:cNvSpPr txBox="1"/>
          <p:nvPr/>
        </p:nvSpPr>
        <p:spPr>
          <a:xfrm>
            <a:off x="6910656" y="4109062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C1FD1E-2972-02ED-8140-65A005CC178A}"/>
              </a:ext>
            </a:extLst>
          </p:cNvPr>
          <p:cNvSpPr txBox="1"/>
          <p:nvPr/>
        </p:nvSpPr>
        <p:spPr>
          <a:xfrm>
            <a:off x="1832851" y="1185401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Host*</a:t>
            </a:r>
          </a:p>
        </p:txBody>
      </p:sp>
    </p:spTree>
    <p:extLst>
      <p:ext uri="{BB962C8B-B14F-4D97-AF65-F5344CB8AC3E}">
        <p14:creationId xmlns:p14="http://schemas.microsoft.com/office/powerpoint/2010/main" val="2904333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B0B5-92BF-4B45-B16D-49FA2B1674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lvl="0"/>
            <a:r>
              <a:rPr lang="en-US" sz="3871" dirty="0"/>
              <a:t>Server Message Block (SMB)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7E150-41C4-4C9B-9771-DA2113C12BF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 vert="horz" lIns="0" tIns="55310" rIns="0" bIns="55310" rtlCol="0">
            <a:normAutofit lnSpcReduction="10000"/>
          </a:bodyPr>
          <a:lstStyle/>
          <a:p>
            <a:pPr marL="412886" indent="-272697">
              <a:buSzPct val="45000"/>
              <a:buFont typeface="Wingdings" panose="05000000000000000000" pitchFamily="2" charset="2"/>
              <a:buChar char="Ø"/>
            </a:pPr>
            <a:r>
              <a:rPr lang="en-US" sz="3387" dirty="0"/>
              <a:t>Originally designed at IBM for use in DOS operating systems.</a:t>
            </a:r>
          </a:p>
          <a:p>
            <a:pPr marL="412886" indent="-272697">
              <a:buSzPct val="45000"/>
              <a:buFont typeface="Wingdings" panose="05000000000000000000" pitchFamily="2" charset="2"/>
              <a:buChar char="Ø"/>
            </a:pPr>
            <a:r>
              <a:rPr lang="en-US" sz="3387" dirty="0"/>
              <a:t>Microsoft started working with it in 1990 and has incorporated it in Windows since 3.1.1</a:t>
            </a:r>
          </a:p>
          <a:p>
            <a:pPr marL="412886" indent="-272697">
              <a:buSzPct val="45000"/>
              <a:buFont typeface="Wingdings" panose="05000000000000000000" pitchFamily="2" charset="2"/>
              <a:buChar char="Ø"/>
            </a:pPr>
            <a:r>
              <a:rPr lang="en-US" sz="3387" dirty="0"/>
              <a:t>Originally designed to allow a Microsoft client to talk to a Microsoft Server. </a:t>
            </a:r>
          </a:p>
          <a:p>
            <a:pPr marL="412886" indent="-272697">
              <a:buSzPct val="45000"/>
              <a:buFont typeface="Wingdings" panose="05000000000000000000" pitchFamily="2" charset="2"/>
              <a:buChar char="Ø"/>
            </a:pPr>
            <a:r>
              <a:rPr lang="en-US" sz="3387" dirty="0"/>
              <a:t>Samba is the standard Windows interoperability suite of programs for Linux and Unix.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66F3C-B5A0-94ED-36B1-C77B9EDE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71" y="66336"/>
            <a:ext cx="11959052" cy="751350"/>
          </a:xfrm>
        </p:spPr>
        <p:txBody>
          <a:bodyPr anchor="t">
            <a:normAutofit/>
          </a:bodyPr>
          <a:lstStyle/>
          <a:p>
            <a:r>
              <a:rPr lang="en-US" dirty="0"/>
              <a:t> Shares in server manager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CFC25-BBCF-35ED-D91F-9B8E92064B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4703" r="33184" b="-1"/>
          <a:stretch/>
        </p:blipFill>
        <p:spPr>
          <a:xfrm>
            <a:off x="130371" y="854263"/>
            <a:ext cx="5962112" cy="5320001"/>
          </a:xfr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0F9E8-8112-1334-EF4F-783966A19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9897" y="854263"/>
            <a:ext cx="5979526" cy="5320000"/>
          </a:xfrm>
        </p:spPr>
        <p:txBody>
          <a:bodyPr>
            <a:normAutofit/>
          </a:bodyPr>
          <a:lstStyle/>
          <a:p>
            <a:r>
              <a:rPr lang="en-US" dirty="0"/>
              <a:t>It will tell you the protocol and what shares you have on your system.</a:t>
            </a:r>
          </a:p>
        </p:txBody>
      </p:sp>
    </p:spTree>
    <p:extLst>
      <p:ext uri="{BB962C8B-B14F-4D97-AF65-F5344CB8AC3E}">
        <p14:creationId xmlns:p14="http://schemas.microsoft.com/office/powerpoint/2010/main" val="1481874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A330-0826-1D50-878C-0AE2A6D9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SMB 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D765D3-419E-DAF3-F48A-76E7EC048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9215" y="862013"/>
            <a:ext cx="8693570" cy="5248275"/>
          </a:xfrm>
        </p:spPr>
      </p:pic>
    </p:spTree>
    <p:extLst>
      <p:ext uri="{BB962C8B-B14F-4D97-AF65-F5344CB8AC3E}">
        <p14:creationId xmlns:p14="http://schemas.microsoft.com/office/powerpoint/2010/main" val="1520477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0DC0-FB30-4B63-A0CB-64066270DC4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lvl="0"/>
            <a:r>
              <a:rPr lang="en-US" sz="4800" dirty="0"/>
              <a:t>Network File System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64FF8-3834-461D-A190-0087A965E9E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3748" y="952901"/>
            <a:ext cx="11504504" cy="5157753"/>
          </a:xfrm>
        </p:spPr>
        <p:txBody>
          <a:bodyPr anchor="t"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NFS Allows one to mount remote directories into the local directory structure</a:t>
            </a:r>
          </a:p>
          <a:p>
            <a:pPr lvl="0"/>
            <a:r>
              <a:rPr lang="en-US" sz="3200" dirty="0"/>
              <a:t>Developed by Sun Microsystems (now Oracle) in 1984.</a:t>
            </a:r>
          </a:p>
          <a:p>
            <a:pPr lvl="1"/>
            <a:r>
              <a:rPr lang="en-US" sz="2800" dirty="0"/>
              <a:t>Current version (April 2003): NFSv4 - Uses TCP Protocol (older versions also allowed UDP) </a:t>
            </a:r>
          </a:p>
          <a:p>
            <a:pPr lvl="0"/>
            <a:r>
              <a:rPr lang="en-US" sz="3200" dirty="0"/>
              <a:t>Built in Open Network Computing Remote Procedure Call (ONC RPC).</a:t>
            </a:r>
          </a:p>
          <a:p>
            <a:pPr lvl="0"/>
            <a:r>
              <a:rPr lang="en-US" sz="3200" dirty="0"/>
              <a:t>Open Standard: RFCs 1094, 1813, 3010, 3530, 5661</a:t>
            </a:r>
          </a:p>
          <a:p>
            <a:pPr lvl="1"/>
            <a:r>
              <a:rPr lang="en-US" sz="2800" dirty="0"/>
              <a:t>A Request for Comments (RFC) is a memorandum published by the Internet Engineering Task Force (IETF) describing methods, behaviors, research, or innovations applicable to the working of the Internet, along with Internet-connected systems.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011DC-57D7-6639-1D96-D9A54C0D7B1B}"/>
              </a:ext>
            </a:extLst>
          </p:cNvPr>
          <p:cNvSpPr txBox="1"/>
          <p:nvPr/>
        </p:nvSpPr>
        <p:spPr>
          <a:xfrm>
            <a:off x="921058" y="6202818"/>
            <a:ext cx="6103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https://www.rfc-editor.org/rfc/rfc1094.html</a:t>
            </a:r>
          </a:p>
        </p:txBody>
      </p:sp>
    </p:spTree>
    <p:extLst>
      <p:ext uri="{BB962C8B-B14F-4D97-AF65-F5344CB8AC3E}">
        <p14:creationId xmlns:p14="http://schemas.microsoft.com/office/powerpoint/2010/main" val="1932266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3CDE-AF5F-96F3-C2C4-E87680FF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8B51BE-1E5A-D841-B757-DB760D098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9824" t="30404" r="25655" b="27740"/>
          <a:stretch/>
        </p:blipFill>
        <p:spPr>
          <a:xfrm>
            <a:off x="533399" y="1231899"/>
            <a:ext cx="5262108" cy="280670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F9E889-32B8-8C6B-5EF5-5530B6B86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207" y="2445887"/>
            <a:ext cx="6438205" cy="318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34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1B4A-E523-56DB-1A7A-3579713CF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add NFS in Windows server 2022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A03824-2FFD-C1FE-18FE-9F8E299BB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864" y="861645"/>
            <a:ext cx="7434271" cy="5248275"/>
          </a:xfrm>
        </p:spPr>
      </p:pic>
    </p:spTree>
    <p:extLst>
      <p:ext uri="{BB962C8B-B14F-4D97-AF65-F5344CB8AC3E}">
        <p14:creationId xmlns:p14="http://schemas.microsoft.com/office/powerpoint/2010/main" val="2233025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480CF-51C2-F21A-AEB5-498326D5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SMB vs NFS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7CD611-D717-E830-FBBF-0363C66A3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NFS better for Unix/Linux, while SMB better for Windows.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NFS requires extra tools to support Apple, but SMB does not.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NFS runs in Unix/Linux and Windows; SMB needs Samba to do 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NFS file locking is mandatory or advisory, but SMB locking is mandatory.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NFS has no fast file find; SMB has fast find.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NFS no server and printer browsing, while SMB has server and printer browsing.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NFS slower reads and writes; SMB faster.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NFS better with small files, while SMB fine with small files but better with large files.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20CBF-A69B-FE79-4E6C-BD9D8846CCFD}"/>
              </a:ext>
            </a:extLst>
          </p:cNvPr>
          <p:cNvSpPr txBox="1"/>
          <p:nvPr/>
        </p:nvSpPr>
        <p:spPr>
          <a:xfrm>
            <a:off x="248852" y="6110656"/>
            <a:ext cx="11432203" cy="76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77" dirty="0">
                <a:solidFill>
                  <a:schemeClr val="bg1"/>
                </a:solidFill>
              </a:rPr>
              <a:t>https://www.computerweekly.com/feature/NFS-vs-SMB-vs-CIFS-File-storage-protocols-defined</a:t>
            </a:r>
          </a:p>
        </p:txBody>
      </p:sp>
    </p:spTree>
    <p:extLst>
      <p:ext uri="{BB962C8B-B14F-4D97-AF65-F5344CB8AC3E}">
        <p14:creationId xmlns:p14="http://schemas.microsoft.com/office/powerpoint/2010/main" val="2226339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8C7D-3321-29B1-75D5-E881A1FCE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0B825C-5B8D-140D-412E-3FED989DD8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0175" y="1430651"/>
            <a:ext cx="5962650" cy="4166561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F52B2D-52E4-74D3-D40C-7C37E4DAEB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Normally you'd want to limit who has access to the files. For our purposes you can set it to all. </a:t>
            </a:r>
          </a:p>
          <a:p>
            <a:r>
              <a:rPr lang="en-US" i="1" dirty="0"/>
              <a:t>Note: This host I believe refers to a machine on your network so like 10.0.2.15</a:t>
            </a:r>
          </a:p>
        </p:txBody>
      </p:sp>
    </p:spTree>
    <p:extLst>
      <p:ext uri="{BB962C8B-B14F-4D97-AF65-F5344CB8AC3E}">
        <p14:creationId xmlns:p14="http://schemas.microsoft.com/office/powerpoint/2010/main" val="3385229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B10B-F745-AF3C-2F81-5B4626B8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71" y="66336"/>
            <a:ext cx="11959052" cy="751350"/>
          </a:xfrm>
        </p:spPr>
        <p:txBody>
          <a:bodyPr anchor="t">
            <a:normAutofit/>
          </a:bodyPr>
          <a:lstStyle/>
          <a:p>
            <a:r>
              <a:rPr lang="en-US" dirty="0"/>
              <a:t>File Server Resource Manager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24D370-67A0-9EB7-67F2-50B784110A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0371" y="1380874"/>
            <a:ext cx="5962112" cy="4266778"/>
          </a:xfr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26F0631-B910-BBD1-FDD1-CC943C7FE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9897" y="854263"/>
            <a:ext cx="5979526" cy="5320000"/>
          </a:xfrm>
        </p:spPr>
        <p:txBody>
          <a:bodyPr/>
          <a:lstStyle/>
          <a:p>
            <a:r>
              <a:rPr lang="en-US" dirty="0"/>
              <a:t>Needs to be added in as a Role. </a:t>
            </a:r>
          </a:p>
          <a:p>
            <a:r>
              <a:rPr lang="en-US" dirty="0"/>
              <a:t>Allows you to create Quotas and limit the type of files allowed on a system among other things.</a:t>
            </a:r>
          </a:p>
        </p:txBody>
      </p:sp>
    </p:spTree>
    <p:extLst>
      <p:ext uri="{BB962C8B-B14F-4D97-AF65-F5344CB8AC3E}">
        <p14:creationId xmlns:p14="http://schemas.microsoft.com/office/powerpoint/2010/main" val="172120251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s.potx" id="{0CA83AF6-D3F3-49D9-B5F4-AAD60D0A4C04}" vid="{B162C896-AD25-40FC-B10B-CA2563A5D3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templates</Template>
  <TotalTime>287</TotalTime>
  <Words>881</Words>
  <Application>Microsoft Office PowerPoint</Application>
  <PresentationFormat>Widescreen</PresentationFormat>
  <Paragraphs>91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StarSymbol</vt:lpstr>
      <vt:lpstr>Tahoma</vt:lpstr>
      <vt:lpstr>Wingdings</vt:lpstr>
      <vt:lpstr>Gallery</vt:lpstr>
      <vt:lpstr>File and Share Access</vt:lpstr>
      <vt:lpstr>File and Storage Services</vt:lpstr>
      <vt:lpstr>NTFS Permissions</vt:lpstr>
      <vt:lpstr>NTFS vs Share </vt:lpstr>
      <vt:lpstr>Effective Permissions</vt:lpstr>
      <vt:lpstr>Shares</vt:lpstr>
      <vt:lpstr>Sharing files </vt:lpstr>
      <vt:lpstr>VirtualBox </vt:lpstr>
      <vt:lpstr>Server Message Block (SMB) Protocol</vt:lpstr>
      <vt:lpstr> Shares in server manager </vt:lpstr>
      <vt:lpstr>How SMB Works</vt:lpstr>
      <vt:lpstr>Network File System Protocol</vt:lpstr>
      <vt:lpstr>Creating a new share</vt:lpstr>
      <vt:lpstr>To add NFS in Windows server 2022</vt:lpstr>
      <vt:lpstr>SMB vs NFS</vt:lpstr>
      <vt:lpstr>Host</vt:lpstr>
      <vt:lpstr>File Server Resource Manager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 Goudreau</dc:creator>
  <cp:lastModifiedBy>Jenn Goudreau</cp:lastModifiedBy>
  <cp:revision>2</cp:revision>
  <dcterms:created xsi:type="dcterms:W3CDTF">2025-02-18T16:03:16Z</dcterms:created>
  <dcterms:modified xsi:type="dcterms:W3CDTF">2025-02-18T20:51:07Z</dcterms:modified>
</cp:coreProperties>
</file>